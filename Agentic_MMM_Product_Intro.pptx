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371600"/>
            <a:ext cx="1554480" cy="54864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1371600"/>
            <a:ext cx="548640" cy="155448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920240"/>
            <a:ext cx="548640" cy="137160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926080"/>
            <a:ext cx="1554480" cy="36576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2926080"/>
            <a:ext cx="-640080" cy="128016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4206240"/>
            <a:ext cx="1371600" cy="36576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0" y="3291840"/>
            <a:ext cx="-822960" cy="128016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4572000"/>
            <a:ext cx="1097280" cy="64008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4206240"/>
            <a:ext cx="457200" cy="137160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0" y="4572000"/>
            <a:ext cx="-914400" cy="100584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43416" y="1271016"/>
            <a:ext cx="201168" cy="201168"/>
          </a:xfrm>
          <a:prstGeom prst="ellipse">
            <a:avLst/>
          </a:prstGeom>
          <a:solidFill>
            <a:srgbClr val="5870B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97896" y="1819656"/>
            <a:ext cx="201168" cy="201168"/>
          </a:xfrm>
          <a:prstGeom prst="ellipse">
            <a:avLst/>
          </a:prstGeom>
          <a:solidFill>
            <a:srgbClr val="5870B0"/>
          </a:solidFill>
          <a:ln/>
        </p:spPr>
      </p:sp>
      <p:sp>
        <p:nvSpPr>
          <p:cNvPr id="15" name="Shape 13"/>
          <p:cNvSpPr/>
          <p:nvPr/>
        </p:nvSpPr>
        <p:spPr>
          <a:xfrm>
            <a:off x="9592056" y="2825496"/>
            <a:ext cx="201168" cy="201168"/>
          </a:xfrm>
          <a:prstGeom prst="ellipse">
            <a:avLst/>
          </a:prstGeom>
          <a:solidFill>
            <a:srgbClr val="E8A2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6536" y="3191256"/>
            <a:ext cx="201168" cy="201168"/>
          </a:xfrm>
          <a:prstGeom prst="ellipse">
            <a:avLst/>
          </a:prstGeom>
          <a:solidFill>
            <a:srgbClr val="5870B0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1976" y="4105656"/>
            <a:ext cx="201168" cy="201168"/>
          </a:xfrm>
          <a:prstGeom prst="ellipse">
            <a:avLst/>
          </a:prstGeom>
          <a:solidFill>
            <a:srgbClr val="5870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23576" y="4471416"/>
            <a:ext cx="201168" cy="201168"/>
          </a:xfrm>
          <a:prstGeom prst="ellipse">
            <a:avLst/>
          </a:prstGeom>
          <a:solidFill>
            <a:srgbClr val="E8A2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20856" y="5111496"/>
            <a:ext cx="201168" cy="201168"/>
          </a:xfrm>
          <a:prstGeom prst="ellipse">
            <a:avLst/>
          </a:prstGeom>
          <a:solidFill>
            <a:srgbClr val="5870B0"/>
          </a:solidFill>
          <a:ln/>
        </p:spPr>
      </p:sp>
      <p:sp>
        <p:nvSpPr>
          <p:cNvPr id="20" name="Shape 18"/>
          <p:cNvSpPr/>
          <p:nvPr/>
        </p:nvSpPr>
        <p:spPr>
          <a:xfrm>
            <a:off x="9409176" y="5477256"/>
            <a:ext cx="201168" cy="201168"/>
          </a:xfrm>
          <a:prstGeom prst="ellipse">
            <a:avLst/>
          </a:prstGeom>
          <a:solidFill>
            <a:srgbClr val="5870B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INTRODUCTION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MMM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640080" y="2880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Modeling, reframed as an AI-native review workstation.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54864" cy="1051560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361188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fixed workflow is not a no-go zone for agentic AI —</a:t>
            </a: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autonomy down into each node.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2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the “AI-Native vs. AI-Embedded” anxiety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FLAWED CHAIN OF REASONING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2194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workflow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971800" y="27660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96265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296265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 for “free planning”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71800" y="35341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37307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can’t be expressed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71800" y="43022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4988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4988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 can only be Embedded”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63640" y="2194560"/>
            <a:ext cx="528797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2395728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49440" y="2377440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519672" y="2788920"/>
            <a:ext cx="477591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treats </a:t>
            </a:r>
            <a:pPr indent="0" marL="0">
              <a:lnSpc>
                <a:spcPct val="106000"/>
              </a:lnSpc>
              <a:buNone/>
            </a:pPr>
            <a:r>
              <a:rPr lang="en-US" sz="1350" b="1" i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planning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essence of agentic behavior. The real essence is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deciding the next action from the current state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holds perfectly well inside a fixed sequence.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263640" y="4023360"/>
            <a:ext cx="5287975" cy="1481328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63640" y="4023360"/>
            <a:ext cx="73152" cy="14813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26" name="Text 23"/>
          <p:cNvSpPr/>
          <p:nvPr/>
        </p:nvSpPr>
        <p:spPr>
          <a:xfrm>
            <a:off x="6556248" y="4224528"/>
            <a:ext cx="4739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LOAD-BEARING CONCLUSION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56248" y="4480560"/>
            <a:ext cx="4739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is a local property, not a global one.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556248" y="5074920"/>
            <a:ext cx="4739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simply moves from the orchestration layer down into the individual node.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MMM — driving tens of millions in budget under an explainability mandate — </a:t>
            </a:r>
            <a:pPr algn="ctr" indent="0" marL="0">
              <a:buNone/>
            </a:pPr>
            <a:r>
              <a:rPr lang="en-US" sz="13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is not a defect; it is a prerequisite for trust and compliance.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the axis: from labels to value density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useful question is not “is the workflow free?” but: can the human’s cognitive load be moved continuously upward?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74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414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IMPLEMENTATION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 </a:t>
            </a:r>
            <a:pPr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pPr indent="0" marL="0">
              <a:buNone/>
            </a:pPr>
            <a:r>
              <a:rPr lang="en-US" sz="1350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step-by-step manual operation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becomes the bottleneck.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240280"/>
            <a:ext cx="5074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2240280"/>
            <a:ext cx="73152" cy="1783080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414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807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 </a:t>
            </a:r>
            <a:pPr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reviewer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3319272"/>
            <a:ext cx="1298448" cy="457200"/>
          </a:xfrm>
          <a:prstGeom prst="roundRect">
            <a:avLst>
              <a:gd name="adj" fmla="val 12000"/>
            </a:avLst>
          </a:prstGeom>
          <a:solidFill>
            <a:srgbClr val="E7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3192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99248" y="331927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91856" y="3319272"/>
            <a:ext cx="1298448" cy="457200"/>
          </a:xfrm>
          <a:prstGeom prst="roundRect">
            <a:avLst>
              <a:gd name="adj" fmla="val 12000"/>
            </a:avLst>
          </a:prstGeom>
          <a:solidFill>
            <a:srgbClr val="E7EEF6"/>
          </a:solidFill>
          <a:ln/>
        </p:spPr>
      </p:sp>
      <p:sp>
        <p:nvSpPr>
          <p:cNvPr id="17" name="Text 15"/>
          <p:cNvSpPr/>
          <p:nvPr/>
        </p:nvSpPr>
        <p:spPr>
          <a:xfrm>
            <a:off x="7991856" y="33192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290304" y="331927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82912" y="3319272"/>
            <a:ext cx="1298448" cy="457200"/>
          </a:xfrm>
          <a:prstGeom prst="roundRect">
            <a:avLst>
              <a:gd name="adj" fmla="val 12000"/>
            </a:avLst>
          </a:prstGeom>
          <a:solidFill>
            <a:srgbClr val="1BA396"/>
          </a:solidFill>
          <a:ln/>
        </p:spPr>
      </p:sp>
      <p:sp>
        <p:nvSpPr>
          <p:cNvPr id="20" name="Text 18"/>
          <p:cNvSpPr/>
          <p:nvPr/>
        </p:nvSpPr>
        <p:spPr>
          <a:xfrm>
            <a:off x="9582912" y="33192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only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6858000" cy="1417320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590288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54480" y="45537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METAPHOR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554480" y="4809744"/>
            <a:ext cx="5806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 box, not a dashboard — a review workstation where “AI submits a PR, the human reviews it.”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863840" y="4297680"/>
            <a:ext cx="368777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553712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613648" y="4553712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138160" y="4956048"/>
            <a:ext cx="3139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Time-per-review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keeps falling.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138160" y="5413248"/>
            <a:ext cx="3139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models-per-person ↑ · rejection-rate 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Positioning: lower the threshold by exactly one tier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“replace the expert,” not “anyone can use it.” The precise claim: lower the threshold required to deliver a </a:t>
            </a:r>
            <a:pPr indent="0" marL="0">
              <a:buNone/>
            </a:pPr>
            <a:r>
              <a:rPr lang="en-US" sz="1350" b="1" i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</a:t>
            </a:r>
            <a:pPr indent="0" marL="0"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MMM by exactly one tier.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393338" cy="109728"/>
          </a:xfrm>
          <a:prstGeom prst="rect">
            <a:avLst/>
          </a:prstGeom>
          <a:solidFill>
            <a:srgbClr val="1BA3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420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08960"/>
            <a:ext cx="2844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B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401568"/>
            <a:ext cx="2844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 multiplied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005072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does the work of a former team; weeks to days.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914400" y="4773168"/>
            <a:ext cx="2844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Certain, safe value capture.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99178" y="219456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9178" y="2194560"/>
            <a:ext cx="3393338" cy="109728"/>
          </a:xfrm>
          <a:prstGeom prst="rect">
            <a:avLst/>
          </a:prstGeom>
          <a:solidFill>
            <a:srgbClr val="E8A2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54203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3498" y="3108960"/>
            <a:ext cx="2844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673498" y="3401568"/>
            <a:ext cx="2844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expands here — safely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73498" y="4005072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marketing + stats, not an MMM expert. With AI, reaches Senior-level work.</a:t>
            </a:r>
            <a:endParaRPr lang="en-US" sz="1230" dirty="0"/>
          </a:p>
        </p:txBody>
      </p:sp>
      <p:sp>
        <p:nvSpPr>
          <p:cNvPr id="18" name="Text 14"/>
          <p:cNvSpPr/>
          <p:nvPr/>
        </p:nvSpPr>
        <p:spPr>
          <a:xfrm>
            <a:off x="4673498" y="4773168"/>
            <a:ext cx="2844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growth engine.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58277" y="219456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58277" y="2194560"/>
            <a:ext cx="3393338" cy="109728"/>
          </a:xfrm>
          <a:prstGeom prst="rect">
            <a:avLst/>
          </a:prstGeom>
          <a:solidFill>
            <a:srgbClr val="DB6A5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54203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32597" y="3108960"/>
            <a:ext cx="2844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/ NOVICE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432597" y="3401568"/>
            <a:ext cx="2844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reach — by design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32597" y="4005072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lack is judgment — exactly what AI should most dangerously replace.</a:t>
            </a:r>
            <a:endParaRPr lang="en-US" sz="1230" dirty="0"/>
          </a:p>
        </p:txBody>
      </p:sp>
      <p:sp>
        <p:nvSpPr>
          <p:cNvPr id="25" name="Text 20"/>
          <p:cNvSpPr/>
          <p:nvPr/>
        </p:nvSpPr>
        <p:spPr>
          <a:xfrm>
            <a:off x="8432597" y="4773168"/>
            <a:ext cx="2844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B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back deliberately.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" y="5394960"/>
            <a:ext cx="10911535" cy="841248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596128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5394960"/>
            <a:ext cx="96313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“Down one tier” is value.   </a:t>
            </a:r>
            <a:pPr indent="0" marL="0">
              <a:buNone/>
            </a:pPr>
            <a:r>
              <a:rPr lang="en-US" sz="2000" b="1" dirty="0">
                <a:solidFill>
                  <a:srgbClr val="E8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“All the way down” is risk.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PRODUCT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Artifacts-Driven: build for the deliverable, not the step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fixed, fragmented, and alternates human↔machine — but the deliverable is the point. </a:t>
            </a:r>
            <a:pPr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organize everything around Artifacts.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4947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2494712" cy="1097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606040"/>
            <a:ext cx="676656" cy="676656"/>
          </a:xfrm>
          <a:prstGeom prst="ellipse">
            <a:avLst/>
          </a:prstGeom>
          <a:solidFill>
            <a:srgbClr val="E8A2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706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429000"/>
            <a:ext cx="203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3666744"/>
            <a:ext cx="2037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Artifacts-Driven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6112" y="4251960"/>
            <a:ext cx="20375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deliverable — not the step — the unit of work, collaboration, and autonomy.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3445688" y="2240280"/>
            <a:ext cx="24947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5688" y="2240280"/>
            <a:ext cx="2494712" cy="1097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14" name="Shape 11"/>
          <p:cNvSpPr/>
          <p:nvPr/>
        </p:nvSpPr>
        <p:spPr>
          <a:xfrm>
            <a:off x="3701720" y="2606040"/>
            <a:ext cx="676656" cy="676656"/>
          </a:xfrm>
          <a:prstGeom prst="ellipse">
            <a:avLst/>
          </a:prstGeom>
          <a:solidFill>
            <a:srgbClr val="1BA39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312" y="277063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1720" y="3429000"/>
            <a:ext cx="203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701720" y="3666744"/>
            <a:ext cx="2037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&amp; Traceable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701720" y="4251960"/>
            <a:ext cx="20375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“how it will be built” — every Artifact’s Draws on / Feeds into, with HITL review where it matters.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6251296" y="2240280"/>
            <a:ext cx="24947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1296" y="2240280"/>
            <a:ext cx="2494712" cy="1097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21" name="Shape 17"/>
          <p:cNvSpPr/>
          <p:nvPr/>
        </p:nvSpPr>
        <p:spPr>
          <a:xfrm>
            <a:off x="6507328" y="2606040"/>
            <a:ext cx="676656" cy="676656"/>
          </a:xfrm>
          <a:prstGeom prst="ellipse">
            <a:avLst/>
          </a:prstGeom>
          <a:solidFill>
            <a:srgbClr val="E8A23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920" y="277063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07328" y="3429000"/>
            <a:ext cx="203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507328" y="3666744"/>
            <a:ext cx="2037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Cognitive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507328" y="4251960"/>
            <a:ext cx="20375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lowers the human’s cognitive load: recommend, pre-answer, pre-compute.</a:t>
            </a:r>
            <a:endParaRPr lang="en-US" sz="1180" dirty="0"/>
          </a:p>
        </p:txBody>
      </p:sp>
      <p:sp>
        <p:nvSpPr>
          <p:cNvPr id="26" name="Shape 21"/>
          <p:cNvSpPr/>
          <p:nvPr/>
        </p:nvSpPr>
        <p:spPr>
          <a:xfrm>
            <a:off x="9056903" y="2240280"/>
            <a:ext cx="24947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56903" y="2240280"/>
            <a:ext cx="2494712" cy="1097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28" name="Shape 23"/>
          <p:cNvSpPr/>
          <p:nvPr/>
        </p:nvSpPr>
        <p:spPr>
          <a:xfrm>
            <a:off x="9312935" y="2606040"/>
            <a:ext cx="676656" cy="676656"/>
          </a:xfrm>
          <a:prstGeom prst="ellipse">
            <a:avLst/>
          </a:prstGeom>
          <a:solidFill>
            <a:srgbClr val="1BA39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527" y="2770632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12935" y="3429000"/>
            <a:ext cx="203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312935" y="3666744"/>
            <a:ext cx="2037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Canvas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312935" y="4251960"/>
            <a:ext cx="20375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spatial surface to iterate Artifacts: import / export, direct edit, NL change.</a:t>
            </a:r>
            <a:endParaRPr lang="en-US" sz="1180" dirty="0"/>
          </a:p>
        </p:txBody>
      </p:sp>
      <p:sp>
        <p:nvSpPr>
          <p:cNvPr id="33" name="Shape 27"/>
          <p:cNvSpPr/>
          <p:nvPr/>
        </p:nvSpPr>
        <p:spPr>
          <a:xfrm>
            <a:off x="640080" y="5285232"/>
            <a:ext cx="10911535" cy="868680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40080" y="5285232"/>
            <a:ext cx="73152" cy="868680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35" name="Text 29"/>
          <p:cNvSpPr/>
          <p:nvPr/>
        </p:nvSpPr>
        <p:spPr>
          <a:xfrm>
            <a:off x="1005840" y="5285232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Artifact is the contract between human and AI —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autonomy and human judgment are both defined inside it.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CONCEPT · DEEP DIVE — PILLAR 1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Artifacts-Driven: the deliverable is the unit of work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i="1" dirty="0">
                <a:solidFill>
                  <a:srgbClr val="E8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Artifact — not the step — the thing AI and humans work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12848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yields an Artifact.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→ model spec → diagnostics → calibrated model → budget plan.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935224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is the contract.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changes to an Artifact; the human accepts, edits, or rejects an Artifact.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657600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scoped per-Artifact.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AI does here, what the human owns here” becomes a clean, bounded question.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40080" y="4416552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4379976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Hand-offs are lossless.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human↔machine turn is just the Artifact’s new state + what changed.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40080" y="5230368"/>
            <a:ext cx="5074920" cy="896112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5230368"/>
            <a:ext cx="54864" cy="896112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230368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in “deterministic skeleton, probabilistic flesh”: the skeleton is now the chain of Artifacts; the probabilistic work happens inside each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554480"/>
            <a:ext cx="5562295" cy="4572000"/>
          </a:xfrm>
          <a:prstGeom prst="roundRect">
            <a:avLst>
              <a:gd name="adj" fmla="val 800"/>
            </a:avLst>
          </a:prstGeom>
          <a:solidFill>
            <a:srgbClr val="EDF0F6"/>
          </a:solidFill>
          <a:ln w="19050">
            <a:solidFill>
              <a:srgbClr val="AEB7C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267548" y="28803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AE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860" y="3090672"/>
            <a:ext cx="585216" cy="5852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4069080"/>
            <a:ext cx="5562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SCREENSHOT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4407408"/>
            <a:ext cx="4647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deliverables / Artifact workspace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VIEW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CONCEPT · DEEP DIVE — PILLAR 2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&amp; Traceable: how it will be built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i="1" dirty="0">
                <a:solidFill>
                  <a:srgbClr val="1BA3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black box — the build is declared up front and traceable throughout.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12848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“how it will be built.”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plan, stages, and responsibilities are declared up front — not inferred after the fact.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935224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any Artifact backward to the upstream Artifacts, data, and knowledge it is built from.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657600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 forward to the downstream Artifacts it affects — see what changes if it changes.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40080" y="4416552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4379976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review, recorded.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nodes carry a visible review state — who signed off, and what is still AI-drafted.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40080" y="5230368"/>
            <a:ext cx="5074920" cy="896112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5230368"/>
            <a:ext cx="54864" cy="896112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230368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build + Draws-on / Feeds-into lineage + recorded human review turns “a model said so” into “here is how it was produced, what it depends on, and who signed off.”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554480"/>
            <a:ext cx="5562295" cy="4572000"/>
          </a:xfrm>
          <a:prstGeom prst="roundRect">
            <a:avLst>
              <a:gd name="adj" fmla="val 800"/>
            </a:avLst>
          </a:prstGeom>
          <a:solidFill>
            <a:srgbClr val="EDF0F6"/>
          </a:solidFill>
          <a:ln w="19050">
            <a:solidFill>
              <a:srgbClr val="AEB7C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267548" y="28803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AE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860" y="3090672"/>
            <a:ext cx="585216" cy="5852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4069080"/>
            <a:ext cx="5562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SCREENSHOT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4407408"/>
            <a:ext cx="4647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 / Feeds into + HITL review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GRAPH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CONCEPT · DEEP DIVE — PILLAR 3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Cognitive: lower the human’s cognitive load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i="1" dirty="0">
                <a:solidFill>
                  <a:srgbClr val="E8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AI’s job is not to do everything — it is to move the human from doing to judging.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12848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conclusion-first recommendation with rationale — start from a position, not a blank page.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935224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Pre-answer.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responses are pre-filled; the human confirms or adjusts rather than composes.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657600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options, counterfactuals (“if not this, then…”), and evidence ready before you arrive.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40080" y="4416552"/>
            <a:ext cx="54864" cy="56692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4379976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attention.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few spots that genuinely need a person; let the rest pass.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40080" y="5230368"/>
            <a:ext cx="5074920" cy="896112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5230368"/>
            <a:ext cx="54864" cy="896112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230368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shifts from “produce and check everything” to “judge what matters” — the value-density thesis, operationalized as a rule for what AI does inside an Artifact.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554480"/>
            <a:ext cx="5562295" cy="4572000"/>
          </a:xfrm>
          <a:prstGeom prst="roundRect">
            <a:avLst>
              <a:gd name="adj" fmla="val 800"/>
            </a:avLst>
          </a:prstGeom>
          <a:solidFill>
            <a:srgbClr val="EDF0F6"/>
          </a:solidFill>
          <a:ln w="19050">
            <a:solidFill>
              <a:srgbClr val="AEB7C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267548" y="28803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AE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860" y="3090672"/>
            <a:ext cx="585216" cy="5852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4069080"/>
            <a:ext cx="5562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SCREENSHOT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4407408"/>
            <a:ext cx="4647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/ pre-answer / pre-compute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CONCEPT · DEEP DIVE — PILLAR 4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Canvas: where Artifacts live and improve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i="1" dirty="0">
                <a:solidFill>
                  <a:srgbClr val="1BA3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spatial, manipulable surface — a better form than chat or a static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12848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iteration.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Artifact in place — not regenerate it from scratch each time.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935224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interoperable, not a walled garden — bring an Artifact in, take it out.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657600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editing.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“re-fit OOH under the tighter prior,” “split this channel by region.”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40080" y="4416552"/>
            <a:ext cx="54864" cy="56692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4379976"/>
            <a:ext cx="4855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collaboration medium.  </a:t>
            </a:r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41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proposals land on the Canvas; the human reviews, tweaks, and accepts there.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40080" y="5230368"/>
            <a:ext cx="5074920" cy="896112"/>
          </a:xfrm>
          <a:prstGeom prst="rect">
            <a:avLst/>
          </a:prstGeom>
          <a:solidFill>
            <a:srgbClr val="1C2C57"/>
          </a:solidFill>
          <a:ln/>
          <a:effectLst>
            <a:outerShdw sx="100000" sy="100000" kx="0" ky="0" algn="bl" rotWithShape="0" blurRad="114300" dist="38100" dir="5400000">
              <a:srgbClr val="0E17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5230368"/>
            <a:ext cx="54864" cy="896112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230368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workstation is no longer a metaphor — it is the Canvas; and the Artifact is what sits on it, iterated by human and AI together.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554480"/>
            <a:ext cx="5562295" cy="4572000"/>
          </a:xfrm>
          <a:prstGeom prst="roundRect">
            <a:avLst>
              <a:gd name="adj" fmla="val 800"/>
            </a:avLst>
          </a:prstGeom>
          <a:solidFill>
            <a:srgbClr val="EDF0F6"/>
          </a:solidFill>
          <a:ln w="19050">
            <a:solidFill>
              <a:srgbClr val="AEB7C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267548" y="28803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AE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860" y="3090672"/>
            <a:ext cx="585216" cy="5852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4069080"/>
            <a:ext cx="5562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SCREENSHOT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4407408"/>
            <a:ext cx="4647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3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collaborate on an Artifact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solidFill>
            <a:srgbClr val="1BA396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ARGUMENT, IN THREE LINES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Agentic MMM wins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" cy="65836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46120" y="1783080"/>
            <a:ext cx="8305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pushed down into each node; value measured by density, not labels.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4864" cy="65836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6243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624328"/>
            <a:ext cx="8305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organized around Artifacts — Driven, Grounded, Cognitive, on a Canvas.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65576"/>
            <a:ext cx="54864" cy="658368"/>
          </a:xfrm>
          <a:prstGeom prst="rect">
            <a:avLst/>
          </a:prstGeom>
          <a:solidFill>
            <a:srgbClr val="E8A23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4655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46120" y="3465576"/>
            <a:ext cx="8305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 MMM delivered one tier lower; expert throughput multiplied.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911535" cy="123444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681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A PORTABLE PARADIGM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93776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advantage, and a reusable decision rule for the company’s other product lines — three questions: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5321808"/>
            <a:ext cx="3240938" cy="365760"/>
          </a:xfrm>
          <a:prstGeom prst="roundRect">
            <a:avLst>
              <a:gd name="adj" fmla="val 15000"/>
            </a:avLst>
          </a:prstGeom>
          <a:solidFill>
            <a:srgbClr val="1C2C5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321808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errors invisible?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75378" y="5321808"/>
            <a:ext cx="3240938" cy="365760"/>
          </a:xfrm>
          <a:prstGeom prst="roundRect">
            <a:avLst>
              <a:gd name="adj" fmla="val 15000"/>
            </a:avLst>
          </a:prstGeom>
          <a:solidFill>
            <a:srgbClr val="1C2C57"/>
          </a:solidFill>
          <a:ln/>
        </p:spPr>
      </p:sp>
      <p:sp>
        <p:nvSpPr>
          <p:cNvPr id="20" name="Text 18"/>
          <p:cNvSpPr/>
          <p:nvPr/>
        </p:nvSpPr>
        <p:spPr>
          <a:xfrm>
            <a:off x="4475378" y="5321808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consequences high-risk?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90637" y="5321808"/>
            <a:ext cx="3240938" cy="365760"/>
          </a:xfrm>
          <a:prstGeom prst="roundRect">
            <a:avLst>
              <a:gd name="adj" fmla="val 15000"/>
            </a:avLst>
          </a:prstGeom>
          <a:solidFill>
            <a:srgbClr val="1C2C57"/>
          </a:solidFill>
          <a:ln/>
        </p:spPr>
      </p:sp>
      <p:sp>
        <p:nvSpPr>
          <p:cNvPr id="22" name="Text 20"/>
          <p:cNvSpPr/>
          <p:nvPr/>
        </p:nvSpPr>
        <p:spPr>
          <a:xfrm>
            <a:off x="7990637" y="5321808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feedback fast &amp; cheap?</a:t>
            </a:r>
            <a:endParaRPr lang="en-US" sz="11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126480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51560" y="60533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step:  </a:t>
            </a:r>
            <a:pPr indent="0" marL="0">
              <a:buNone/>
            </a:pPr>
            <a:r>
              <a:rPr lang="en-US" sz="1700" b="1" dirty="0">
                <a:solidFill>
                  <a:srgbClr val="E8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proposal  ·  live demo  ·  let’s talk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MMM — Product Introduction</dc:title>
  <dc:subject>PptxGenJS Presentation</dc:subject>
  <dc:creator>Agentic MMM</dc:creator>
  <cp:lastModifiedBy>Agentic MMM</cp:lastModifiedBy>
  <cp:revision>1</cp:revision>
  <dcterms:created xsi:type="dcterms:W3CDTF">2026-06-13T16:02:00Z</dcterms:created>
  <dcterms:modified xsi:type="dcterms:W3CDTF">2026-06-13T16:02:00Z</dcterms:modified>
</cp:coreProperties>
</file>